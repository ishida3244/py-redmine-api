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554480"/>
            <a:ext cx="10972800" cy="1188720"/>
          </a:xfrm>
          <a:prstGeom prst="rect">
            <a:avLst/>
          </a:prstGeom>
          <a:noFill/>
        </p:spPr>
        <p:txBody>
          <a:bodyPr wrap="none">
            <a:spAutoFit/>
          </a:bodyPr>
          <a:lstStyle/>
          <a:p>
            <a:r>
              <a:rPr sz="2800" b="1">
                <a:solidFill>
                  <a:srgbClr val="1F4E79"/>
                </a:solidFill>
                <a:latin typeface="Meiryo"/>
              </a:rPr>
              <a:t>Microsoft 365 と連携した Azure 移行のご提案</a:t>
            </a:r>
          </a:p>
        </p:txBody>
      </p:sp>
      <p:sp>
        <p:nvSpPr>
          <p:cNvPr id="4" name="TextBox 3"/>
          <p:cNvSpPr txBox="1"/>
          <p:nvPr/>
        </p:nvSpPr>
        <p:spPr>
          <a:xfrm>
            <a:off x="640080" y="2651760"/>
            <a:ext cx="10972800" cy="914400"/>
          </a:xfrm>
          <a:prstGeom prst="rect">
            <a:avLst/>
          </a:prstGeom>
          <a:noFill/>
        </p:spPr>
        <p:txBody>
          <a:bodyPr wrap="none">
            <a:spAutoFit/>
          </a:bodyPr>
          <a:lstStyle/>
          <a:p>
            <a:r>
              <a:rPr sz="1800" b="0">
                <a:solidFill>
                  <a:srgbClr val="787878"/>
                </a:solidFill>
                <a:latin typeface="Meiryo"/>
              </a:rPr>
              <a:t>運用の簡素化・セキュリティ強化・リリース高速化</a:t>
            </a:r>
          </a:p>
        </p:txBody>
      </p:sp>
      <p:sp>
        <p:nvSpPr>
          <p:cNvPr id="5" name="Rounded Rectangle 4"/>
          <p:cNvSpPr/>
          <p:nvPr/>
        </p:nvSpPr>
        <p:spPr>
          <a:xfrm>
            <a:off x="7772400" y="1645920"/>
            <a:ext cx="3474720" cy="73152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1F4E79"/>
                </a:solidFill>
                <a:latin typeface="Meiryo"/>
              </a:rPr>
              <a:t>社員のログインを一本化</a:t>
            </a:r>
          </a:p>
        </p:txBody>
      </p:sp>
      <p:sp>
        <p:nvSpPr>
          <p:cNvPr id="6" name="Rounded Rectangle 5"/>
          <p:cNvSpPr/>
          <p:nvPr/>
        </p:nvSpPr>
        <p:spPr>
          <a:xfrm>
            <a:off x="7772400" y="2560320"/>
            <a:ext cx="3474720" cy="73152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1F4E79"/>
                </a:solidFill>
                <a:latin typeface="Meiryo"/>
              </a:rPr>
              <a:t>鍵をアプリに置かない</a:t>
            </a:r>
          </a:p>
        </p:txBody>
      </p:sp>
      <p:sp>
        <p:nvSpPr>
          <p:cNvPr id="7" name="Rounded Rectangle 6"/>
          <p:cNvSpPr/>
          <p:nvPr/>
        </p:nvSpPr>
        <p:spPr>
          <a:xfrm>
            <a:off x="7772400" y="3474720"/>
            <a:ext cx="3474720" cy="73152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1F4E79"/>
                </a:solidFill>
                <a:latin typeface="Meiryo"/>
              </a:rPr>
              <a:t>安全に自動でリリース</a:t>
            </a:r>
          </a:p>
        </p:txBody>
      </p:sp>
      <p:sp>
        <p:nvSpPr>
          <p:cNvPr id="8" name="TextBox 7"/>
          <p:cNvSpPr txBox="1"/>
          <p:nvPr/>
        </p:nvSpPr>
        <p:spPr>
          <a:xfrm>
            <a:off x="640080" y="5852160"/>
            <a:ext cx="5943600" cy="274320"/>
          </a:xfrm>
          <a:prstGeom prst="rect">
            <a:avLst/>
          </a:prstGeom>
          <a:noFill/>
        </p:spPr>
        <p:txBody>
          <a:bodyPr wrap="none">
            <a:spAutoFit/>
          </a:bodyPr>
          <a:lstStyle/>
          <a:p>
            <a:pPr algn="l"/>
            <a:r>
              <a:rPr sz="1100" b="0">
                <a:solidFill>
                  <a:srgbClr val="787878"/>
                </a:solidFill>
                <a:latin typeface="Meiryo"/>
              </a:rPr>
              <a:t>作成日: 2026-05-29</a:t>
            </a:r>
          </a:p>
        </p:txBody>
      </p:sp>
      <p:sp>
        <p:nvSpPr>
          <p:cNvPr id="9" name="TextBox 8"/>
          <p:cNvSpPr txBox="1"/>
          <p:nvPr/>
        </p:nvSpPr>
        <p:spPr>
          <a:xfrm>
            <a:off x="640080" y="6172200"/>
            <a:ext cx="5943600" cy="274320"/>
          </a:xfrm>
          <a:prstGeom prst="rect">
            <a:avLst/>
          </a:prstGeom>
          <a:noFill/>
        </p:spPr>
        <p:txBody>
          <a:bodyPr wrap="none">
            <a:spAutoFit/>
          </a:bodyPr>
          <a:lstStyle/>
          <a:p>
            <a:pPr algn="l"/>
            <a:r>
              <a:rPr sz="1100" b="0">
                <a:solidFill>
                  <a:srgbClr val="787878"/>
                </a:solidFill>
                <a:latin typeface="Meiryo"/>
              </a:rPr>
              <a:t>作成者: </a:t>
            </a:r>
          </a:p>
        </p:txBody>
      </p:sp>
      <p:sp>
        <p:nvSpPr>
          <p:cNvPr id="10" name="TextBox 9"/>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要点（経営判断のための結論）</a:t>
            </a:r>
          </a:p>
        </p:txBody>
      </p:sp>
      <p:sp>
        <p:nvSpPr>
          <p:cNvPr id="3" name="TextBox 2"/>
          <p:cNvSpPr txBox="1"/>
          <p:nvPr/>
        </p:nvSpPr>
        <p:spPr>
          <a:xfrm>
            <a:off x="731520" y="1463040"/>
            <a:ext cx="10789920" cy="4389120"/>
          </a:xfrm>
          <a:prstGeom prst="rect">
            <a:avLst/>
          </a:prstGeom>
          <a:noFill/>
        </p:spPr>
        <p:txBody>
          <a:bodyPr wrap="square">
            <a:spAutoFit/>
          </a:bodyPr>
          <a:lstStyle/>
          <a:p>
            <a:pPr algn="l">
              <a:spcAft>
                <a:spcPts val="1000"/>
              </a:spcAft>
            </a:pPr>
            <a:r>
              <a:rPr sz="2200" b="0">
                <a:solidFill>
                  <a:srgbClr val="404040"/>
                </a:solidFill>
                <a:latin typeface="Meiryo"/>
              </a:rPr>
              <a:t>Microsoft 365 と同じ土台に揃えることで、運用がシンプルになります。</a:t>
            </a:r>
          </a:p>
          <a:p>
            <a:pPr algn="l">
              <a:spcAft>
                <a:spcPts val="1000"/>
              </a:spcAft>
            </a:pPr>
            <a:r>
              <a:rPr sz="2200" b="0">
                <a:solidFill>
                  <a:srgbClr val="404040"/>
                </a:solidFill>
                <a:latin typeface="Meiryo"/>
              </a:rPr>
              <a:t>アプリごとにパスワードを持たせず、自動で管理できるため、漏えいリスクを下げられます。</a:t>
            </a:r>
          </a:p>
          <a:p>
            <a:pPr algn="l">
              <a:spcAft>
                <a:spcPts val="1000"/>
              </a:spcAft>
            </a:pPr>
            <a:r>
              <a:rPr sz="2200" b="0">
                <a:solidFill>
                  <a:srgbClr val="404040"/>
                </a:solidFill>
                <a:latin typeface="Meiryo"/>
              </a:rPr>
              <a:t>開発から本番までの流れを自動化できるため、リリースが速くなり、人為的ミスも減ります。</a:t>
            </a:r>
          </a:p>
        </p:txBody>
      </p:sp>
      <p:sp>
        <p:nvSpPr>
          <p:cNvPr id="4" name="TextBox 3"/>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
        <p:nvSpPr>
          <p:cNvPr id="5" name="Rounded Rectangle 4"/>
          <p:cNvSpPr/>
          <p:nvPr/>
        </p:nvSpPr>
        <p:spPr>
          <a:xfrm>
            <a:off x="822960" y="5577840"/>
            <a:ext cx="10607040" cy="64008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1F4E79"/>
                </a:solidFill>
                <a:latin typeface="Meiryo"/>
              </a:rPr>
              <a:t>結果として、安全性を高めながら、手間と費用の削減が見込めます。</a:t>
            </a:r>
          </a:p>
        </p:txBody>
      </p:sp>
      <p:sp>
        <p:nvSpPr>
          <p:cNvPr id="6" name="TextBox 5"/>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現状の課題</a:t>
            </a:r>
          </a:p>
        </p:txBody>
      </p:sp>
      <p:sp>
        <p:nvSpPr>
          <p:cNvPr id="3" name="TextBox 2"/>
          <p:cNvSpPr txBox="1"/>
          <p:nvPr/>
        </p:nvSpPr>
        <p:spPr>
          <a:xfrm>
            <a:off x="731520" y="1463040"/>
            <a:ext cx="10789920" cy="4389120"/>
          </a:xfrm>
          <a:prstGeom prst="rect">
            <a:avLst/>
          </a:prstGeom>
          <a:noFill/>
        </p:spPr>
        <p:txBody>
          <a:bodyPr wrap="square">
            <a:spAutoFit/>
          </a:bodyPr>
          <a:lstStyle/>
          <a:p>
            <a:pPr algn="l">
              <a:spcAft>
                <a:spcPts val="1000"/>
              </a:spcAft>
            </a:pPr>
            <a:r>
              <a:rPr sz="2200" b="0">
                <a:solidFill>
                  <a:srgbClr val="404040"/>
                </a:solidFill>
                <a:latin typeface="Meiryo"/>
              </a:rPr>
              <a:t>システムが複数の環境に分かれているため、管理が複雑になっています。</a:t>
            </a:r>
          </a:p>
          <a:p>
            <a:pPr algn="l">
              <a:spcAft>
                <a:spcPts val="1000"/>
              </a:spcAft>
            </a:pPr>
            <a:r>
              <a:rPr sz="2200" b="0">
                <a:solidFill>
                  <a:srgbClr val="404040"/>
                </a:solidFill>
                <a:latin typeface="Meiryo"/>
              </a:rPr>
              <a:t>機密情報が各所に点在し、漏えいリスクと運用コストが高くなっています。</a:t>
            </a:r>
          </a:p>
          <a:p>
            <a:pPr algn="l">
              <a:spcAft>
                <a:spcPts val="1000"/>
              </a:spcAft>
            </a:pPr>
            <a:r>
              <a:rPr sz="2200" b="0">
                <a:solidFill>
                  <a:srgbClr val="404040"/>
                </a:solidFill>
                <a:latin typeface="Meiryo"/>
              </a:rPr>
              <a:t>開発から本番への切り替えに手作業が多く、時間がかかります。</a:t>
            </a:r>
          </a:p>
        </p:txBody>
      </p:sp>
      <p:sp>
        <p:nvSpPr>
          <p:cNvPr id="4" name="TextBox 3"/>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
        <p:nvSpPr>
          <p:cNvPr id="5" name="Rounded Rectangle 4"/>
          <p:cNvSpPr/>
          <p:nvPr/>
        </p:nvSpPr>
        <p:spPr>
          <a:xfrm>
            <a:off x="822960" y="5486400"/>
            <a:ext cx="10607040" cy="731520"/>
          </a:xfrm>
          <a:prstGeom prst="roundRect">
            <a:avLst/>
          </a:prstGeom>
          <a:solidFill>
            <a:srgbClr val="FFF2CC"/>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404040"/>
                </a:solidFill>
                <a:latin typeface="Meiryo"/>
              </a:rPr>
              <a:t>分散しているほど、管理の手間とリスクは増えます。</a:t>
            </a:r>
          </a:p>
        </p:txBody>
      </p:sp>
      <p:sp>
        <p:nvSpPr>
          <p:cNvPr id="6" name="TextBox 5"/>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提案の概要</a:t>
            </a:r>
          </a:p>
        </p:txBody>
      </p:sp>
      <p:sp>
        <p:nvSpPr>
          <p:cNvPr id="3" name="TextBox 2"/>
          <p:cNvSpPr txBox="1"/>
          <p:nvPr/>
        </p:nvSpPr>
        <p:spPr>
          <a:xfrm>
            <a:off x="731520" y="1463040"/>
            <a:ext cx="10789920" cy="4389120"/>
          </a:xfrm>
          <a:prstGeom prst="rect">
            <a:avLst/>
          </a:prstGeom>
          <a:noFill/>
        </p:spPr>
        <p:txBody>
          <a:bodyPr wrap="square">
            <a:spAutoFit/>
          </a:bodyPr>
          <a:lstStyle/>
          <a:p>
            <a:pPr algn="l">
              <a:spcAft>
                <a:spcPts val="1000"/>
              </a:spcAft>
            </a:pPr>
            <a:r>
              <a:rPr sz="2200" b="0">
                <a:solidFill>
                  <a:srgbClr val="404040"/>
                </a:solidFill>
                <a:latin typeface="Meiryo"/>
              </a:rPr>
              <a:t>Microsoft 365 と同じ Azure に移すことで、社員のログインと権限を一本化します。</a:t>
            </a:r>
          </a:p>
          <a:p>
            <a:pPr algn="l">
              <a:spcAft>
                <a:spcPts val="1000"/>
              </a:spcAft>
            </a:pPr>
            <a:r>
              <a:rPr sz="2200" b="0">
                <a:solidFill>
                  <a:srgbClr val="404040"/>
                </a:solidFill>
                <a:latin typeface="Meiryo"/>
              </a:rPr>
              <a:t>鍵や証明書を専用の場所で自動管理し、アプリに置かないようにします。</a:t>
            </a:r>
          </a:p>
          <a:p>
            <a:pPr algn="l">
              <a:spcAft>
                <a:spcPts val="1000"/>
              </a:spcAft>
            </a:pPr>
            <a:r>
              <a:rPr sz="2200" b="0">
                <a:solidFill>
                  <a:srgbClr val="404040"/>
                </a:solidFill>
                <a:latin typeface="Meiryo"/>
              </a:rPr>
              <a:t>開発から本番への流れを自動化し、安全な手順で短時間に実行できるようにします。</a:t>
            </a:r>
          </a:p>
        </p:txBody>
      </p:sp>
      <p:sp>
        <p:nvSpPr>
          <p:cNvPr id="4" name="TextBox 3"/>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
        <p:nvSpPr>
          <p:cNvPr id="5" name="TextBox 4"/>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期待できる効果</a:t>
            </a:r>
          </a:p>
        </p:txBody>
      </p:sp>
      <p:sp>
        <p:nvSpPr>
          <p:cNvPr id="3" name="Rounded Rectangle 2"/>
          <p:cNvSpPr/>
          <p:nvPr/>
        </p:nvSpPr>
        <p:spPr>
          <a:xfrm>
            <a:off x="731520" y="1554480"/>
            <a:ext cx="2194560" cy="1005840"/>
          </a:xfrm>
          <a:prstGeom prst="round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安全性</a:t>
            </a:r>
          </a:p>
        </p:txBody>
      </p:sp>
      <p:sp>
        <p:nvSpPr>
          <p:cNvPr id="4" name="TextBox 3"/>
          <p:cNvSpPr txBox="1"/>
          <p:nvPr/>
        </p:nvSpPr>
        <p:spPr>
          <a:xfrm>
            <a:off x="731520" y="2651760"/>
            <a:ext cx="2194560" cy="640080"/>
          </a:xfrm>
          <a:prstGeom prst="rect">
            <a:avLst/>
          </a:prstGeom>
          <a:noFill/>
        </p:spPr>
        <p:txBody>
          <a:bodyPr wrap="none">
            <a:spAutoFit/>
          </a:bodyPr>
          <a:lstStyle/>
          <a:p>
            <a:pPr algn="ctr"/>
            <a:r>
              <a:rPr sz="1200" b="0">
                <a:solidFill>
                  <a:srgbClr val="404040"/>
                </a:solidFill>
                <a:latin typeface="Meiryo"/>
              </a:rPr>
              <a:t>長期の鍵を減らし、漏えいリスクを低減</a:t>
            </a:r>
          </a:p>
        </p:txBody>
      </p:sp>
      <p:sp>
        <p:nvSpPr>
          <p:cNvPr id="5" name="Rounded Rectangle 4"/>
          <p:cNvSpPr/>
          <p:nvPr/>
        </p:nvSpPr>
        <p:spPr>
          <a:xfrm>
            <a:off x="3474720" y="1554480"/>
            <a:ext cx="2194560" cy="1005840"/>
          </a:xfrm>
          <a:prstGeom prst="round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スピード</a:t>
            </a:r>
          </a:p>
        </p:txBody>
      </p:sp>
      <p:sp>
        <p:nvSpPr>
          <p:cNvPr id="6" name="TextBox 5"/>
          <p:cNvSpPr txBox="1"/>
          <p:nvPr/>
        </p:nvSpPr>
        <p:spPr>
          <a:xfrm>
            <a:off x="3474720" y="2651760"/>
            <a:ext cx="2194560" cy="640080"/>
          </a:xfrm>
          <a:prstGeom prst="rect">
            <a:avLst/>
          </a:prstGeom>
          <a:noFill/>
        </p:spPr>
        <p:txBody>
          <a:bodyPr wrap="none">
            <a:spAutoFit/>
          </a:bodyPr>
          <a:lstStyle/>
          <a:p>
            <a:pPr algn="ctr"/>
            <a:r>
              <a:rPr sz="1200" b="0">
                <a:solidFill>
                  <a:srgbClr val="404040"/>
                </a:solidFill>
                <a:latin typeface="Meiryo"/>
              </a:rPr>
              <a:t>リリースまでの時間を短縮</a:t>
            </a:r>
          </a:p>
        </p:txBody>
      </p:sp>
      <p:sp>
        <p:nvSpPr>
          <p:cNvPr id="7" name="Rounded Rectangle 6"/>
          <p:cNvSpPr/>
          <p:nvPr/>
        </p:nvSpPr>
        <p:spPr>
          <a:xfrm>
            <a:off x="6217920" y="1554480"/>
            <a:ext cx="2194560" cy="1005840"/>
          </a:xfrm>
          <a:prstGeom prst="round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コスト</a:t>
            </a:r>
          </a:p>
        </p:txBody>
      </p:sp>
      <p:sp>
        <p:nvSpPr>
          <p:cNvPr id="8" name="TextBox 7"/>
          <p:cNvSpPr txBox="1"/>
          <p:nvPr/>
        </p:nvSpPr>
        <p:spPr>
          <a:xfrm>
            <a:off x="6217920" y="2651760"/>
            <a:ext cx="2194560" cy="640080"/>
          </a:xfrm>
          <a:prstGeom prst="rect">
            <a:avLst/>
          </a:prstGeom>
          <a:noFill/>
        </p:spPr>
        <p:txBody>
          <a:bodyPr wrap="none">
            <a:spAutoFit/>
          </a:bodyPr>
          <a:lstStyle/>
          <a:p>
            <a:pPr algn="ctr"/>
            <a:r>
              <a:rPr sz="1200" b="0">
                <a:solidFill>
                  <a:srgbClr val="404040"/>
                </a:solidFill>
                <a:latin typeface="Meiryo"/>
              </a:rPr>
              <a:t>運用工数を減らし、無駄な作業を削減</a:t>
            </a:r>
          </a:p>
        </p:txBody>
      </p:sp>
      <p:sp>
        <p:nvSpPr>
          <p:cNvPr id="9" name="Rounded Rectangle 8"/>
          <p:cNvSpPr/>
          <p:nvPr/>
        </p:nvSpPr>
        <p:spPr>
          <a:xfrm>
            <a:off x="8961120" y="1554480"/>
            <a:ext cx="2194560" cy="1005840"/>
          </a:xfrm>
          <a:prstGeom prst="round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監査対応</a:t>
            </a:r>
          </a:p>
        </p:txBody>
      </p:sp>
      <p:sp>
        <p:nvSpPr>
          <p:cNvPr id="10" name="TextBox 9"/>
          <p:cNvSpPr txBox="1"/>
          <p:nvPr/>
        </p:nvSpPr>
        <p:spPr>
          <a:xfrm>
            <a:off x="8961120" y="2651760"/>
            <a:ext cx="2194560" cy="640080"/>
          </a:xfrm>
          <a:prstGeom prst="rect">
            <a:avLst/>
          </a:prstGeom>
          <a:noFill/>
        </p:spPr>
        <p:txBody>
          <a:bodyPr wrap="none">
            <a:spAutoFit/>
          </a:bodyPr>
          <a:lstStyle/>
          <a:p>
            <a:pPr algn="ctr"/>
            <a:r>
              <a:rPr sz="1200" b="0">
                <a:solidFill>
                  <a:srgbClr val="404040"/>
                </a:solidFill>
                <a:latin typeface="Meiryo"/>
              </a:rPr>
              <a:t>ログをまとめて確認しやすくする</a:t>
            </a:r>
          </a:p>
        </p:txBody>
      </p:sp>
      <p:sp>
        <p:nvSpPr>
          <p:cNvPr id="11" name="Rounded Rectangle 10"/>
          <p:cNvSpPr/>
          <p:nvPr/>
        </p:nvSpPr>
        <p:spPr>
          <a:xfrm>
            <a:off x="914400" y="4297680"/>
            <a:ext cx="10332720" cy="91440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1F4E79"/>
                </a:solidFill>
                <a:latin typeface="Meiryo"/>
              </a:rPr>
              <a:t>導入の狙いは「安全に、早く、無駄なく」運用できる状態に変えることです。</a:t>
            </a:r>
          </a:p>
        </p:txBody>
      </p:sp>
      <p:sp>
        <p:nvSpPr>
          <p:cNvPr id="12" name="TextBox 11"/>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現状イメージ（AWSでの開発・運用）</a:t>
            </a:r>
          </a:p>
        </p:txBody>
      </p:sp>
      <p:sp>
        <p:nvSpPr>
          <p:cNvPr id="3" name="Rounded Rectangle 2"/>
          <p:cNvSpPr/>
          <p:nvPr/>
        </p:nvSpPr>
        <p:spPr>
          <a:xfrm>
            <a:off x="548640" y="1920240"/>
            <a:ext cx="2743200" cy="1097280"/>
          </a:xfrm>
          <a:prstGeom prst="round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開発・CI/CD
(GitHub Actions)</a:t>
            </a:r>
          </a:p>
        </p:txBody>
      </p:sp>
      <p:sp>
        <p:nvSpPr>
          <p:cNvPr id="4" name="TextBox 3"/>
          <p:cNvSpPr txBox="1"/>
          <p:nvPr/>
        </p:nvSpPr>
        <p:spPr>
          <a:xfrm>
            <a:off x="548640" y="3108960"/>
            <a:ext cx="2743200" cy="457200"/>
          </a:xfrm>
          <a:prstGeom prst="rect">
            <a:avLst/>
          </a:prstGeom>
          <a:noFill/>
        </p:spPr>
        <p:txBody>
          <a:bodyPr wrap="none">
            <a:spAutoFit/>
          </a:bodyPr>
          <a:lstStyle/>
          <a:p>
            <a:pPr algn="ctr"/>
            <a:r>
              <a:rPr sz="1200" b="0">
                <a:solidFill>
                  <a:srgbClr val="787878"/>
                </a:solidFill>
                <a:latin typeface="Meiryo"/>
              </a:rPr>
              <a:t>長期キー管理・手作業が残る</a:t>
            </a:r>
          </a:p>
        </p:txBody>
      </p:sp>
      <p:sp>
        <p:nvSpPr>
          <p:cNvPr id="5" name="Rounded Rectangle 4"/>
          <p:cNvSpPr/>
          <p:nvPr/>
        </p:nvSpPr>
        <p:spPr>
          <a:xfrm>
            <a:off x="3840480" y="1463040"/>
            <a:ext cx="2194560" cy="822960"/>
          </a:xfrm>
          <a:prstGeom prst="roundRect">
            <a:avLst/>
          </a:prstGeom>
          <a:solidFill>
            <a:srgbClr val="F2F2F2"/>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404040"/>
                </a:solidFill>
                <a:latin typeface="Meiryo"/>
              </a:rPr>
              <a:t>別々のログイン・権限</a:t>
            </a:r>
          </a:p>
        </p:txBody>
      </p:sp>
      <p:sp>
        <p:nvSpPr>
          <p:cNvPr id="6" name="Rounded Rectangle 5"/>
          <p:cNvSpPr/>
          <p:nvPr/>
        </p:nvSpPr>
        <p:spPr>
          <a:xfrm>
            <a:off x="6309360" y="1463040"/>
            <a:ext cx="2194560" cy="822960"/>
          </a:xfrm>
          <a:prstGeom prst="roundRect">
            <a:avLst/>
          </a:prstGeom>
          <a:solidFill>
            <a:srgbClr val="F2F2F2"/>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404040"/>
                </a:solidFill>
                <a:latin typeface="Meiryo"/>
              </a:rPr>
              <a:t>各所に点在する
鍵・パスワード</a:t>
            </a:r>
          </a:p>
        </p:txBody>
      </p:sp>
      <p:sp>
        <p:nvSpPr>
          <p:cNvPr id="7" name="Rounded Rectangle 6"/>
          <p:cNvSpPr/>
          <p:nvPr/>
        </p:nvSpPr>
        <p:spPr>
          <a:xfrm>
            <a:off x="3840480" y="2468880"/>
            <a:ext cx="2194560" cy="822960"/>
          </a:xfrm>
          <a:prstGeom prst="roundRect">
            <a:avLst/>
          </a:prstGeom>
          <a:solidFill>
            <a:srgbClr val="F2F2F2"/>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404040"/>
                </a:solidFill>
                <a:latin typeface="Meiryo"/>
              </a:rPr>
              <a:t>公開エンドポイント
（露出多い）</a:t>
            </a:r>
          </a:p>
        </p:txBody>
      </p:sp>
      <p:sp>
        <p:nvSpPr>
          <p:cNvPr id="8" name="Rounded Rectangle 7"/>
          <p:cNvSpPr/>
          <p:nvPr/>
        </p:nvSpPr>
        <p:spPr>
          <a:xfrm>
            <a:off x="6309360" y="2468880"/>
            <a:ext cx="2194560" cy="822960"/>
          </a:xfrm>
          <a:prstGeom prst="roundRect">
            <a:avLst/>
          </a:prstGeom>
          <a:solidFill>
            <a:srgbClr val="F2F2F2"/>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404040"/>
                </a:solidFill>
                <a:latin typeface="Meiryo"/>
              </a:rPr>
              <a:t>手作業の切替・長期キー</a:t>
            </a:r>
          </a:p>
        </p:txBody>
      </p:sp>
      <p:sp>
        <p:nvSpPr>
          <p:cNvPr id="9" name="TextBox 8"/>
          <p:cNvSpPr txBox="1"/>
          <p:nvPr/>
        </p:nvSpPr>
        <p:spPr>
          <a:xfrm>
            <a:off x="3840480" y="3383280"/>
            <a:ext cx="4663440" cy="365760"/>
          </a:xfrm>
          <a:prstGeom prst="rect">
            <a:avLst/>
          </a:prstGeom>
          <a:noFill/>
        </p:spPr>
        <p:txBody>
          <a:bodyPr wrap="none">
            <a:spAutoFit/>
          </a:bodyPr>
          <a:lstStyle/>
          <a:p>
            <a:pPr algn="ctr"/>
            <a:r>
              <a:rPr sz="1200" b="0">
                <a:solidFill>
                  <a:srgbClr val="787878"/>
                </a:solidFill>
                <a:latin typeface="Meiryo"/>
              </a:rPr>
              <a:t>複雑さ＝ミスと漏えいの入口が増える</a:t>
            </a:r>
          </a:p>
        </p:txBody>
      </p:sp>
      <p:sp>
        <p:nvSpPr>
          <p:cNvPr id="10" name="Rounded Rectangle 9"/>
          <p:cNvSpPr/>
          <p:nvPr/>
        </p:nvSpPr>
        <p:spPr>
          <a:xfrm>
            <a:off x="8229600" y="1920240"/>
            <a:ext cx="3108960" cy="1097280"/>
          </a:xfrm>
          <a:prstGeom prst="round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業務アプリ・データ
（複数環境に分散）</a:t>
            </a:r>
          </a:p>
        </p:txBody>
      </p:sp>
      <p:sp>
        <p:nvSpPr>
          <p:cNvPr id="11" name="TextBox 10"/>
          <p:cNvSpPr txBox="1"/>
          <p:nvPr/>
        </p:nvSpPr>
        <p:spPr>
          <a:xfrm>
            <a:off x="8229600" y="3108960"/>
            <a:ext cx="3108960" cy="457200"/>
          </a:xfrm>
          <a:prstGeom prst="rect">
            <a:avLst/>
          </a:prstGeom>
          <a:noFill/>
        </p:spPr>
        <p:txBody>
          <a:bodyPr wrap="none">
            <a:spAutoFit/>
          </a:bodyPr>
          <a:lstStyle/>
          <a:p>
            <a:pPr algn="ctr"/>
            <a:r>
              <a:rPr sz="1200" b="0">
                <a:solidFill>
                  <a:srgbClr val="787878"/>
                </a:solidFill>
                <a:latin typeface="Meiryo"/>
              </a:rPr>
              <a:t>管理と監査が難しい</a:t>
            </a:r>
          </a:p>
        </p:txBody>
      </p:sp>
      <p:sp>
        <p:nvSpPr>
          <p:cNvPr id="12" name="Right Arrow 11"/>
          <p:cNvSpPr/>
          <p:nvPr/>
        </p:nvSpPr>
        <p:spPr>
          <a:xfrm>
            <a:off x="3017520" y="1965960"/>
            <a:ext cx="548640" cy="228600"/>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3017520" y="1783080"/>
            <a:ext cx="548640" cy="228600"/>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3017520" y="2697480"/>
            <a:ext cx="548640" cy="228600"/>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7315200" y="1691640"/>
            <a:ext cx="731520" cy="228600"/>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7315200" y="2697480"/>
            <a:ext cx="731520" cy="228600"/>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5120640"/>
            <a:ext cx="10332720" cy="822960"/>
          </a:xfrm>
          <a:prstGeom prst="roundRect">
            <a:avLst/>
          </a:prstGeom>
          <a:solidFill>
            <a:srgbClr val="FFF2CC"/>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404040"/>
                </a:solidFill>
                <a:latin typeface="Meiryo"/>
              </a:rPr>
              <a:t>複雑な構成と点在する機密情報は、運用負荷とセキュリティ事故の可能性を高めます。</a:t>
            </a:r>
          </a:p>
        </p:txBody>
      </p:sp>
      <p:sp>
        <p:nvSpPr>
          <p:cNvPr id="18" name="TextBox 17"/>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将来イメージ（Azure移行後）</a:t>
            </a:r>
          </a:p>
        </p:txBody>
      </p:sp>
      <p:sp>
        <p:nvSpPr>
          <p:cNvPr id="3" name="Rounded Rectangle 2"/>
          <p:cNvSpPr/>
          <p:nvPr/>
        </p:nvSpPr>
        <p:spPr>
          <a:xfrm>
            <a:off x="640080" y="2011680"/>
            <a:ext cx="2834640" cy="1188720"/>
          </a:xfrm>
          <a:prstGeom prst="round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開発・CI/CD
(GitHub Actions)</a:t>
            </a:r>
          </a:p>
        </p:txBody>
      </p:sp>
      <p:sp>
        <p:nvSpPr>
          <p:cNvPr id="4" name="TextBox 3"/>
          <p:cNvSpPr txBox="1"/>
          <p:nvPr/>
        </p:nvSpPr>
        <p:spPr>
          <a:xfrm>
            <a:off x="640080" y="3291840"/>
            <a:ext cx="2834640" cy="457200"/>
          </a:xfrm>
          <a:prstGeom prst="rect">
            <a:avLst/>
          </a:prstGeom>
          <a:noFill/>
        </p:spPr>
        <p:txBody>
          <a:bodyPr wrap="none">
            <a:spAutoFit/>
          </a:bodyPr>
          <a:lstStyle/>
          <a:p>
            <a:pPr algn="ctr"/>
            <a:r>
              <a:rPr sz="1200" b="0">
                <a:solidFill>
                  <a:srgbClr val="787878"/>
                </a:solidFill>
                <a:latin typeface="Meiryo"/>
              </a:rPr>
              <a:t>短期の認証で安全に接続</a:t>
            </a:r>
          </a:p>
        </p:txBody>
      </p:sp>
      <p:sp>
        <p:nvSpPr>
          <p:cNvPr id="5" name="Rounded Rectangle 4"/>
          <p:cNvSpPr/>
          <p:nvPr/>
        </p:nvSpPr>
        <p:spPr>
          <a:xfrm>
            <a:off x="4480560" y="1645920"/>
            <a:ext cx="3200400" cy="914400"/>
          </a:xfrm>
          <a:prstGeom prst="round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2000" b="1">
                <a:solidFill>
                  <a:srgbClr val="FFFFFF"/>
                </a:solidFill>
                <a:latin typeface="Meiryo"/>
              </a:rPr>
              <a:t>Azure 共通基盤</a:t>
            </a:r>
          </a:p>
        </p:txBody>
      </p:sp>
      <p:sp>
        <p:nvSpPr>
          <p:cNvPr id="6" name="Rounded Rectangle 5"/>
          <p:cNvSpPr/>
          <p:nvPr/>
        </p:nvSpPr>
        <p:spPr>
          <a:xfrm>
            <a:off x="4480560" y="2743200"/>
            <a:ext cx="1508760" cy="109728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600" b="1">
                <a:solidFill>
                  <a:srgbClr val="1F4E79"/>
                </a:solidFill>
                <a:latin typeface="Meiryo"/>
              </a:rPr>
              <a:t>社員の
ログイン</a:t>
            </a:r>
          </a:p>
        </p:txBody>
      </p:sp>
      <p:sp>
        <p:nvSpPr>
          <p:cNvPr id="7" name="Rounded Rectangle 6"/>
          <p:cNvSpPr/>
          <p:nvPr/>
        </p:nvSpPr>
        <p:spPr>
          <a:xfrm>
            <a:off x="6172200" y="2743200"/>
            <a:ext cx="1508760" cy="109728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600" b="1">
                <a:solidFill>
                  <a:srgbClr val="1F4E79"/>
                </a:solidFill>
                <a:latin typeface="Meiryo"/>
              </a:rPr>
              <a:t>鍵の保管
自動管理</a:t>
            </a:r>
          </a:p>
        </p:txBody>
      </p:sp>
      <p:sp>
        <p:nvSpPr>
          <p:cNvPr id="8" name="TextBox 7"/>
          <p:cNvSpPr txBox="1"/>
          <p:nvPr/>
        </p:nvSpPr>
        <p:spPr>
          <a:xfrm>
            <a:off x="4480560" y="3977639"/>
            <a:ext cx="3200400" cy="365760"/>
          </a:xfrm>
          <a:prstGeom prst="rect">
            <a:avLst/>
          </a:prstGeom>
          <a:noFill/>
        </p:spPr>
        <p:txBody>
          <a:bodyPr wrap="none">
            <a:spAutoFit/>
          </a:bodyPr>
          <a:lstStyle/>
          <a:p>
            <a:pPr algn="ctr"/>
            <a:r>
              <a:rPr sz="1200" b="0">
                <a:solidFill>
                  <a:srgbClr val="787878"/>
                </a:solidFill>
                <a:latin typeface="Meiryo"/>
              </a:rPr>
              <a:t>ここで認証と機密管理をまとめる</a:t>
            </a:r>
          </a:p>
        </p:txBody>
      </p:sp>
      <p:sp>
        <p:nvSpPr>
          <p:cNvPr id="9" name="Rounded Rectangle 8"/>
          <p:cNvSpPr/>
          <p:nvPr/>
        </p:nvSpPr>
        <p:spPr>
          <a:xfrm>
            <a:off x="8412480" y="2011680"/>
            <a:ext cx="2834640" cy="1188720"/>
          </a:xfrm>
          <a:prstGeom prst="round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業務アプリ・データ</a:t>
            </a:r>
          </a:p>
        </p:txBody>
      </p:sp>
      <p:sp>
        <p:nvSpPr>
          <p:cNvPr id="10" name="TextBox 9"/>
          <p:cNvSpPr txBox="1"/>
          <p:nvPr/>
        </p:nvSpPr>
        <p:spPr>
          <a:xfrm>
            <a:off x="8412480" y="3291840"/>
            <a:ext cx="2834640" cy="457200"/>
          </a:xfrm>
          <a:prstGeom prst="rect">
            <a:avLst/>
          </a:prstGeom>
          <a:noFill/>
        </p:spPr>
        <p:txBody>
          <a:bodyPr wrap="none">
            <a:spAutoFit/>
          </a:bodyPr>
          <a:lstStyle/>
          <a:p>
            <a:pPr algn="ctr"/>
            <a:r>
              <a:rPr sz="1200" b="0">
                <a:solidFill>
                  <a:srgbClr val="787878"/>
                </a:solidFill>
                <a:latin typeface="Meiryo"/>
              </a:rPr>
              <a:t>安全に接続・データ交換</a:t>
            </a:r>
          </a:p>
        </p:txBody>
      </p:sp>
      <p:sp>
        <p:nvSpPr>
          <p:cNvPr id="11" name="Right Arrow 10"/>
          <p:cNvSpPr/>
          <p:nvPr/>
        </p:nvSpPr>
        <p:spPr>
          <a:xfrm>
            <a:off x="3611880" y="2331720"/>
            <a:ext cx="685800" cy="365760"/>
          </a:xfrm>
          <a:prstGeom prst="rightArrow">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7818120" y="2331720"/>
            <a:ext cx="685800" cy="365760"/>
          </a:xfrm>
          <a:prstGeom prst="rightArrow">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4937760"/>
            <a:ext cx="10332720" cy="822960"/>
          </a:xfrm>
          <a:prstGeom prst="roundRect">
            <a:avLst/>
          </a:prstGeom>
          <a:solidFill>
            <a:srgbClr val="FFF2CC"/>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404040"/>
                </a:solidFill>
                <a:latin typeface="Meiryo"/>
              </a:rPr>
              <a:t>外から直接見えにくい形にして、不要な公開を減らします。</a:t>
            </a:r>
          </a:p>
        </p:txBody>
      </p:sp>
      <p:sp>
        <p:nvSpPr>
          <p:cNvPr id="14" name="TextBox 13"/>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導入ステップ</a:t>
            </a:r>
          </a:p>
        </p:txBody>
      </p:sp>
      <p:sp>
        <p:nvSpPr>
          <p:cNvPr id="3" name="Rounded Rectangle 2"/>
          <p:cNvSpPr/>
          <p:nvPr/>
        </p:nvSpPr>
        <p:spPr>
          <a:xfrm>
            <a:off x="731520" y="1828800"/>
            <a:ext cx="2560320" cy="914400"/>
          </a:xfrm>
          <a:prstGeom prst="round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1〜2か月</a:t>
            </a:r>
          </a:p>
        </p:txBody>
      </p:sp>
      <p:sp>
        <p:nvSpPr>
          <p:cNvPr id="4" name="Rounded Rectangle 3"/>
          <p:cNvSpPr/>
          <p:nvPr/>
        </p:nvSpPr>
        <p:spPr>
          <a:xfrm>
            <a:off x="731520" y="2926080"/>
            <a:ext cx="2560320" cy="1371600"/>
          </a:xfrm>
          <a:prstGeom prst="roundRect">
            <a:avLst/>
          </a:prstGeom>
          <a:solidFill>
            <a:srgbClr val="F2F2F2"/>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600" b="1">
                <a:solidFill>
                  <a:srgbClr val="404040"/>
                </a:solidFill>
                <a:latin typeface="Meiryo"/>
              </a:rPr>
              <a:t>現状調査
試験環境の準備</a:t>
            </a:r>
          </a:p>
        </p:txBody>
      </p:sp>
      <p:sp>
        <p:nvSpPr>
          <p:cNvPr id="5" name="Rounded Rectangle 4"/>
          <p:cNvSpPr/>
          <p:nvPr/>
        </p:nvSpPr>
        <p:spPr>
          <a:xfrm>
            <a:off x="3931920" y="1828800"/>
            <a:ext cx="2560320" cy="914400"/>
          </a:xfrm>
          <a:prstGeom prst="round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3〜6か月</a:t>
            </a:r>
          </a:p>
        </p:txBody>
      </p:sp>
      <p:sp>
        <p:nvSpPr>
          <p:cNvPr id="6" name="Rounded Rectangle 5"/>
          <p:cNvSpPr/>
          <p:nvPr/>
        </p:nvSpPr>
        <p:spPr>
          <a:xfrm>
            <a:off x="3931920" y="2926080"/>
            <a:ext cx="2560320" cy="1371600"/>
          </a:xfrm>
          <a:prstGeom prst="roundRect">
            <a:avLst/>
          </a:prstGeom>
          <a:solidFill>
            <a:srgbClr val="F2F2F2"/>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600" b="1">
                <a:solidFill>
                  <a:srgbClr val="404040"/>
                </a:solidFill>
                <a:latin typeface="Meiryo"/>
              </a:rPr>
              <a:t>主要システムの切替
運用ルール整備</a:t>
            </a:r>
          </a:p>
        </p:txBody>
      </p:sp>
      <p:sp>
        <p:nvSpPr>
          <p:cNvPr id="7" name="Rounded Rectangle 6"/>
          <p:cNvSpPr/>
          <p:nvPr/>
        </p:nvSpPr>
        <p:spPr>
          <a:xfrm>
            <a:off x="7132320" y="1828800"/>
            <a:ext cx="2560320" cy="914400"/>
          </a:xfrm>
          <a:prstGeom prst="round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6〜12か月</a:t>
            </a:r>
          </a:p>
        </p:txBody>
      </p:sp>
      <p:sp>
        <p:nvSpPr>
          <p:cNvPr id="8" name="Rounded Rectangle 7"/>
          <p:cNvSpPr/>
          <p:nvPr/>
        </p:nvSpPr>
        <p:spPr>
          <a:xfrm>
            <a:off x="7132320" y="2926080"/>
            <a:ext cx="2560320" cy="1371600"/>
          </a:xfrm>
          <a:prstGeom prst="roundRect">
            <a:avLst/>
          </a:prstGeom>
          <a:solidFill>
            <a:srgbClr val="F2F2F2"/>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600" b="1">
                <a:solidFill>
                  <a:srgbClr val="404040"/>
                </a:solidFill>
                <a:latin typeface="Meiryo"/>
              </a:rPr>
              <a:t>残りの移行
監視と監査の完成</a:t>
            </a:r>
          </a:p>
        </p:txBody>
      </p:sp>
      <p:sp>
        <p:nvSpPr>
          <p:cNvPr id="9" name="Right Arrow 8"/>
          <p:cNvSpPr/>
          <p:nvPr/>
        </p:nvSpPr>
        <p:spPr>
          <a:xfrm>
            <a:off x="3337560" y="2148840"/>
            <a:ext cx="457200" cy="320040"/>
          </a:xfrm>
          <a:prstGeom prst="right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6537960" y="2148840"/>
            <a:ext cx="457200" cy="320040"/>
          </a:xfrm>
          <a:prstGeom prst="rightArrow">
            <a:avLst/>
          </a:prstGeom>
          <a:solidFill>
            <a:srgbClr val="787878"/>
          </a:solidFill>
          <a:ln>
            <a:solidFill>
              <a:srgbClr val="787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60" y="4846320"/>
            <a:ext cx="10332720" cy="82296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1F4E79"/>
                </a:solidFill>
                <a:latin typeface="Meiryo"/>
              </a:rPr>
              <a:t>段階的に進めることで、業務への影響を抑えながら移行できます。</a:t>
            </a:r>
          </a:p>
        </p:txBody>
      </p:sp>
      <p:sp>
        <p:nvSpPr>
          <p:cNvPr id="12" name="TextBox 11"/>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リスクと対策</a:t>
            </a:r>
          </a:p>
        </p:txBody>
      </p:sp>
      <p:sp>
        <p:nvSpPr>
          <p:cNvPr id="3" name="Rounded Rectangle 2"/>
          <p:cNvSpPr/>
          <p:nvPr/>
        </p:nvSpPr>
        <p:spPr>
          <a:xfrm>
            <a:off x="731520" y="1554480"/>
            <a:ext cx="4663440" cy="457200"/>
          </a:xfrm>
          <a:prstGeom prst="roundRect">
            <a:avLst/>
          </a:prstGeom>
          <a:solidFill>
            <a:srgbClr val="FFF2CC"/>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404040"/>
                </a:solidFill>
                <a:latin typeface="Meiryo"/>
              </a:rPr>
              <a:t>リスク: 移行中の一時的な負荷</a:t>
            </a:r>
          </a:p>
        </p:txBody>
      </p:sp>
      <p:sp>
        <p:nvSpPr>
          <p:cNvPr id="4" name="Rounded Rectangle 3"/>
          <p:cNvSpPr/>
          <p:nvPr/>
        </p:nvSpPr>
        <p:spPr>
          <a:xfrm>
            <a:off x="6309360" y="1554480"/>
            <a:ext cx="5120640" cy="45720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1F4E79"/>
                </a:solidFill>
                <a:latin typeface="Meiryo"/>
              </a:rPr>
              <a:t>対策: 段階的に移行し、並行運用で停止を避ける。</a:t>
            </a:r>
          </a:p>
        </p:txBody>
      </p:sp>
      <p:sp>
        <p:nvSpPr>
          <p:cNvPr id="5" name="Rounded Rectangle 4"/>
          <p:cNvSpPr/>
          <p:nvPr/>
        </p:nvSpPr>
        <p:spPr>
          <a:xfrm>
            <a:off x="731520" y="2788920"/>
            <a:ext cx="4663440" cy="457200"/>
          </a:xfrm>
          <a:prstGeom prst="roundRect">
            <a:avLst/>
          </a:prstGeom>
          <a:solidFill>
            <a:srgbClr val="FFF2CC"/>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404040"/>
                </a:solidFill>
                <a:latin typeface="Meiryo"/>
              </a:rPr>
              <a:t>リスク: 既存システムの改修コスト</a:t>
            </a:r>
          </a:p>
        </p:txBody>
      </p:sp>
      <p:sp>
        <p:nvSpPr>
          <p:cNvPr id="6" name="Rounded Rectangle 5"/>
          <p:cNvSpPr/>
          <p:nvPr/>
        </p:nvSpPr>
        <p:spPr>
          <a:xfrm>
            <a:off x="6309360" y="2788920"/>
            <a:ext cx="5120640" cy="45720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1F4E79"/>
                </a:solidFill>
                <a:latin typeface="Meiryo"/>
              </a:rPr>
              <a:t>対策: 効果の大きいところから着手し、早く成果を出す。</a:t>
            </a:r>
          </a:p>
        </p:txBody>
      </p:sp>
      <p:sp>
        <p:nvSpPr>
          <p:cNvPr id="7" name="Rounded Rectangle 6"/>
          <p:cNvSpPr/>
          <p:nvPr/>
        </p:nvSpPr>
        <p:spPr>
          <a:xfrm>
            <a:off x="731520" y="4023360"/>
            <a:ext cx="4663440" cy="457200"/>
          </a:xfrm>
          <a:prstGeom prst="roundRect">
            <a:avLst/>
          </a:prstGeom>
          <a:solidFill>
            <a:srgbClr val="FFF2CC"/>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404040"/>
                </a:solidFill>
                <a:latin typeface="Meiryo"/>
              </a:rPr>
              <a:t>リスク: 運用ルールの変更</a:t>
            </a:r>
          </a:p>
        </p:txBody>
      </p:sp>
      <p:sp>
        <p:nvSpPr>
          <p:cNvPr id="8" name="Rounded Rectangle 7"/>
          <p:cNvSpPr/>
          <p:nvPr/>
        </p:nvSpPr>
        <p:spPr>
          <a:xfrm>
            <a:off x="6309360" y="4023360"/>
            <a:ext cx="5120640" cy="45720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400" b="1">
                <a:solidFill>
                  <a:srgbClr val="1F4E79"/>
                </a:solidFill>
                <a:latin typeface="Meiryo"/>
              </a:rPr>
              <a:t>対策: 手順書と教育を整え、最初は手厚く支援する。</a:t>
            </a:r>
          </a:p>
        </p:txBody>
      </p:sp>
      <p:sp>
        <p:nvSpPr>
          <p:cNvPr id="9" name="Rounded Rectangle 8"/>
          <p:cNvSpPr/>
          <p:nvPr/>
        </p:nvSpPr>
        <p:spPr>
          <a:xfrm>
            <a:off x="822960" y="5486400"/>
            <a:ext cx="10332720" cy="640080"/>
          </a:xfrm>
          <a:prstGeom prst="roundRect">
            <a:avLst/>
          </a:prstGeom>
          <a:solidFill>
            <a:srgbClr val="DDEBF7"/>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600" b="1">
                <a:solidFill>
                  <a:srgbClr val="1F4E79"/>
                </a:solidFill>
                <a:latin typeface="Meiryo"/>
              </a:rPr>
              <a:t>リスクをゼロにするのではなく、影響が小さい進め方にすることが重要です。</a:t>
            </a:r>
          </a:p>
        </p:txBody>
      </p:sp>
      <p:sp>
        <p:nvSpPr>
          <p:cNvPr id="10" name="TextBox 9"/>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ご決裁いただきたいこと</a:t>
            </a:r>
          </a:p>
        </p:txBody>
      </p:sp>
      <p:sp>
        <p:nvSpPr>
          <p:cNvPr id="3" name="TextBox 2"/>
          <p:cNvSpPr txBox="1"/>
          <p:nvPr/>
        </p:nvSpPr>
        <p:spPr>
          <a:xfrm>
            <a:off x="457200" y="274320"/>
            <a:ext cx="11247120" cy="640080"/>
          </a:xfrm>
          <a:prstGeom prst="rect">
            <a:avLst/>
          </a:prstGeom>
          <a:noFill/>
        </p:spPr>
        <p:txBody>
          <a:bodyPr wrap="none">
            <a:spAutoFit/>
          </a:bodyPr>
          <a:lstStyle/>
          <a:p>
            <a:pPr algn="l"/>
            <a:r>
              <a:rPr sz="2800" b="1">
                <a:solidFill>
                  <a:srgbClr val="1F4E79"/>
                </a:solidFill>
                <a:latin typeface="Meiryo"/>
              </a:rPr>
              <a:t/>
            </a:r>
          </a:p>
        </p:txBody>
      </p:sp>
      <p:sp>
        <p:nvSpPr>
          <p:cNvPr id="4" name="TextBox 3"/>
          <p:cNvSpPr txBox="1"/>
          <p:nvPr/>
        </p:nvSpPr>
        <p:spPr>
          <a:xfrm>
            <a:off x="731520" y="1554480"/>
            <a:ext cx="10789920" cy="1828800"/>
          </a:xfrm>
          <a:prstGeom prst="rect">
            <a:avLst/>
          </a:prstGeom>
          <a:noFill/>
        </p:spPr>
        <p:txBody>
          <a:bodyPr wrap="square">
            <a:spAutoFit/>
          </a:bodyPr>
          <a:lstStyle/>
          <a:p>
            <a:pPr algn="l">
              <a:spcAft>
                <a:spcPts val="1000"/>
              </a:spcAft>
            </a:pPr>
            <a:r>
              <a:rPr sz="2200" b="0">
                <a:solidFill>
                  <a:srgbClr val="404040"/>
                </a:solidFill>
                <a:latin typeface="Meiryo"/>
              </a:rPr>
              <a:t>移行プロジェクトの開始承認</a:t>
            </a:r>
          </a:p>
          <a:p>
            <a:pPr algn="l">
              <a:spcAft>
                <a:spcPts val="1000"/>
              </a:spcAft>
            </a:pPr>
            <a:r>
              <a:rPr sz="2200" b="0">
                <a:solidFill>
                  <a:srgbClr val="404040"/>
                </a:solidFill>
                <a:latin typeface="Meiryo"/>
              </a:rPr>
              <a:t>初期調査と試験導入の予算承認</a:t>
            </a:r>
          </a:p>
          <a:p>
            <a:pPr algn="l">
              <a:spcAft>
                <a:spcPts val="1000"/>
              </a:spcAft>
            </a:pPr>
            <a:r>
              <a:rPr sz="2200" b="0">
                <a:solidFill>
                  <a:srgbClr val="404040"/>
                </a:solidFill>
                <a:latin typeface="Meiryo"/>
              </a:rPr>
              <a:t>関係部門の担当者アサイン</a:t>
            </a:r>
          </a:p>
        </p:txBody>
      </p:sp>
      <p:sp>
        <p:nvSpPr>
          <p:cNvPr id="5" name="TextBox 4"/>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
        <p:nvSpPr>
          <p:cNvPr id="6" name="Rounded Rectangle 5"/>
          <p:cNvSpPr/>
          <p:nvPr/>
        </p:nvSpPr>
        <p:spPr>
          <a:xfrm>
            <a:off x="914400" y="3840480"/>
            <a:ext cx="10241280" cy="1097280"/>
          </a:xfrm>
          <a:prstGeom prst="round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FFFFFF"/>
                </a:solidFill>
                <a:latin typeface="Meiryo"/>
              </a:rPr>
              <a:t>初期投資で、将来の運用負荷とセキュリティリスクを下げる判断をお願いします。</a:t>
            </a:r>
          </a:p>
        </p:txBody>
      </p:sp>
      <p:sp>
        <p:nvSpPr>
          <p:cNvPr id="7" name="Rounded Rectangle 6"/>
          <p:cNvSpPr/>
          <p:nvPr/>
        </p:nvSpPr>
        <p:spPr>
          <a:xfrm>
            <a:off x="914400" y="5303520"/>
            <a:ext cx="10241280" cy="731520"/>
          </a:xfrm>
          <a:prstGeom prst="roundRect">
            <a:avLst/>
          </a:prstGeom>
          <a:solidFill>
            <a:srgbClr val="FFF2CC"/>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600"/>
              </a:spcBef>
              <a:spcAft>
                <a:spcPts val="600"/>
              </a:spcAft>
            </a:pPr>
            <a:r>
              <a:rPr sz="1800" b="1">
                <a:solidFill>
                  <a:srgbClr val="404040"/>
                </a:solidFill>
                <a:latin typeface="Meiryo"/>
              </a:rPr>
              <a:t>次のステップ: 詳細見積・移行計画・試験導入</a:t>
            </a:r>
          </a:p>
        </p:txBody>
      </p:sp>
      <p:sp>
        <p:nvSpPr>
          <p:cNvPr id="8" name="TextBox 7"/>
          <p:cNvSpPr txBox="1"/>
          <p:nvPr/>
        </p:nvSpPr>
        <p:spPr>
          <a:xfrm>
            <a:off x="10698480" y="6400800"/>
            <a:ext cx="1280160" cy="228600"/>
          </a:xfrm>
          <a:prstGeom prst="rect">
            <a:avLst/>
          </a:prstGeom>
          <a:noFill/>
        </p:spPr>
        <p:txBody>
          <a:bodyPr wrap="none">
            <a:spAutoFit/>
          </a:bodyPr>
          <a:lstStyle/>
          <a:p>
            <a:pPr algn="r"/>
            <a:r>
              <a:rPr sz="1000" b="0">
                <a:solidFill>
                  <a:srgbClr val="787878"/>
                </a:solidFill>
                <a:latin typeface="Meiryo"/>
              </a:rPr>
              <a:t>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